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3"/>
  </p:notesMasterIdLst>
  <p:handoutMasterIdLst>
    <p:handoutMasterId r:id="rId24"/>
  </p:handoutMasterIdLst>
  <p:sldIdLst>
    <p:sldId id="278" r:id="rId5"/>
    <p:sldId id="279" r:id="rId6"/>
    <p:sldId id="280" r:id="rId7"/>
    <p:sldId id="281" r:id="rId8"/>
    <p:sldId id="282" r:id="rId9"/>
    <p:sldId id="283" r:id="rId10"/>
    <p:sldId id="295" r:id="rId11"/>
    <p:sldId id="286" r:id="rId12"/>
    <p:sldId id="284" r:id="rId13"/>
    <p:sldId id="285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19" autoAdjust="0"/>
  </p:normalViewPr>
  <p:slideViewPr>
    <p:cSldViewPr snapToGrid="0">
      <p:cViewPr varScale="1">
        <p:scale>
          <a:sx n="81" d="100"/>
          <a:sy n="81" d="100"/>
        </p:scale>
        <p:origin x="66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30D8D-1E8E-46AF-9C10-3BD426B2523A}" type="datetime1">
              <a:rPr lang="en-GB" smtClean="0"/>
              <a:t>28/07/2023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3D865-7669-4F64-9733-F997BDAED29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41340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2CD5E69-3755-402E-89C1-CDB30CA7425E}" type="datetime1">
              <a:rPr lang="en-GB" noProof="0" smtClean="0"/>
              <a:t>28/07/2023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Quarter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E88F-1F85-4A27-9D34-D74A50E7B0DA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5677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284996-D5EC-400C-8FE4-7E6C69BB0CF8}" type="datetime1">
              <a:rPr lang="en-GB" noProof="0" smtClean="0"/>
              <a:t>28/07/2023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B28C59-49BD-4590-9846-C533AA98752B}" type="datetime1">
              <a:rPr lang="en-GB" noProof="0" smtClean="0"/>
              <a:t>28/07/2023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F7E4AC-764F-4C27-AEC4-A4960E9093F0}" type="datetime1">
              <a:rPr lang="en-GB" noProof="0" smtClean="0"/>
              <a:t>28/07/2023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82D7911-34EF-456A-9CCB-4081299328B8}" type="datetime1">
              <a:rPr lang="en-GB" noProof="0" smtClean="0"/>
              <a:t>28/07/2023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3B73AE-9525-4148-A209-40AC38BF5737}" type="datetime1">
              <a:rPr lang="en-GB" noProof="0" smtClean="0"/>
              <a:t>28/07/2023</a:t>
            </a:fld>
            <a:endParaRPr lang="en-GB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4D3EFD-A3EB-48D6-91D1-30671EA1207D}" type="datetime1">
              <a:rPr lang="en-GB" noProof="0" smtClean="0"/>
              <a:t>28/07/2023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C3D2D4-BB4A-4B7B-ADA7-22E227BD5AE7}" type="datetime1">
              <a:rPr lang="en-GB" noProof="0" smtClean="0"/>
              <a:t>28/07/2023</a:t>
            </a:fld>
            <a:endParaRPr lang="en-GB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82CE2A-D155-40CB-A971-66B163E6347D}" type="datetime1">
              <a:rPr lang="en-GB" noProof="0" smtClean="0"/>
              <a:t>28/07/2023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50CEE9-1E3A-4ADA-93D4-2FD4F8431AA5}" type="datetime1">
              <a:rPr lang="en-GB" noProof="0" smtClean="0"/>
              <a:t>28/07/2023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D065D1-D2F2-4D54-B881-786AFA6A9AF3}" type="datetime1">
              <a:rPr lang="en-GB" noProof="0" smtClean="0"/>
              <a:t>28/07/2023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BB8088-55E1-47B9-BF04-9403C8256F50}" type="datetime1">
              <a:rPr lang="en-GB" noProof="0" smtClean="0"/>
              <a:t>28/07/2023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FCA334-3F96-4772-959C-677B9C9B892F}" type="datetime1">
              <a:rPr lang="en-GB" noProof="0" smtClean="0"/>
              <a:t>28/07/2023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n-GB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791FB6-1BB1-4D54-B64E-19C9843EEB6A}" type="datetime1">
              <a:rPr lang="en-GB" noProof="0" smtClean="0"/>
              <a:t>28/07/2023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928F16-6F15-471B-BABC-F11D9655039E}" type="datetime1">
              <a:rPr lang="en-GB" noProof="0" smtClean="0"/>
              <a:t>28/07/2023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098D439-F42D-4C5F-AAC2-3886E29E2212}" type="datetime1">
              <a:rPr lang="en-GB" noProof="0" smtClean="0"/>
              <a:t>28/07/2023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Quarter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4EEED21A-E036-4044-8AF6-43527D4E8308}" type="datetime1">
              <a:rPr lang="en-GB" noProof="0" smtClean="0"/>
              <a:t>28/07/2023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p14="http://schemas.microsoft.com/office/powerpoint/2010/main" xmlns:a16="http://schemas.microsoft.com/office/drawing/2014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 rtlCol="0">
            <a:normAutofit/>
          </a:bodyPr>
          <a:lstStyle/>
          <a:p>
            <a:pPr algn="l" rtl="0"/>
            <a:r>
              <a:rPr lang="en" sz="2400" b="1" i="1" dirty="0"/>
              <a:t>Energy Crisis</a:t>
            </a:r>
            <a:br>
              <a:rPr lang="en" sz="3200" b="1" i="1" dirty="0"/>
            </a:br>
            <a:r>
              <a:rPr lang="en" sz="3200" b="1" i="1" dirty="0"/>
              <a:t>Biofuel </a:t>
            </a:r>
            <a:r>
              <a:rPr lang="en" sz="3200" i="1" dirty="0"/>
              <a:t>&amp;</a:t>
            </a:r>
            <a:r>
              <a:rPr lang="en" sz="3200" b="1" i="1" dirty="0"/>
              <a:t> Nanotechnology</a:t>
            </a:r>
            <a:endParaRPr lang="en-GB" sz="4000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 rtlCol="0">
            <a:normAutofit fontScale="70000" lnSpcReduction="20000"/>
          </a:bodyPr>
          <a:lstStyle/>
          <a:p>
            <a:pPr algn="l" rtl="0"/>
            <a:r>
              <a:rPr lang="en-US" altLang="zh-CN" sz="2300" dirty="0"/>
              <a:t>Webb Wu</a:t>
            </a:r>
          </a:p>
          <a:p>
            <a:pPr algn="l" rtl="0"/>
            <a:r>
              <a:rPr lang="en-US" altLang="zh-CN" sz="2300" dirty="0" err="1"/>
              <a:t>Tonbridge</a:t>
            </a:r>
            <a:r>
              <a:rPr lang="en-US" altLang="zh-CN" sz="2300" dirty="0"/>
              <a:t> School, UK</a:t>
            </a:r>
          </a:p>
          <a:p>
            <a:pPr algn="l" rtl="0"/>
            <a:r>
              <a:rPr lang="en-US" dirty="0"/>
              <a:t>28/07/2023</a:t>
            </a: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D2AC-07F4-ED8B-0DEE-ED4C38985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671CD-3FA0-22EE-0F83-CE3CFD9D2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3F6BF2-7BB0-85BF-C201-4BE9C2CB6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299" y="1319601"/>
            <a:ext cx="5267401" cy="421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975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62246-5A4D-6597-7DF7-A2FE41311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7C8D9-23F3-3ADE-5737-F60FE04D4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178A98-560E-2D7D-7BF8-BBAD19EA2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046" y="2556216"/>
            <a:ext cx="4582893" cy="32349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5F65AB-BFF7-E6DA-74F9-42D2F882A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939" y="825890"/>
            <a:ext cx="4644242" cy="327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381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B2997-2DB4-27EF-5CE5-493B94764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D4E81-ABA5-8121-4189-C92F007F2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9AEE1-6734-635B-CADC-1957D04F9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377" y="1238250"/>
            <a:ext cx="6208597" cy="438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09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62BD6-10CE-B8E8-D62A-6BF6659E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C89C0-8159-F2C6-1BB5-B8ADBA22F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909FC6-2752-3A6C-5BAC-3D5003543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813" y="1330509"/>
            <a:ext cx="5945725" cy="419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053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233F0-9F75-5B82-CB73-A6559676E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 Biofuel Example: Bioethanol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A6B508-E88A-E290-E2E3-FCA3026DEB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→2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𝑂𝐻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𝐶𝑂</m:t>
                    </m:r>
                  </m:oMath>
                </a14:m>
                <a:endParaRPr lang="pt-BR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𝑠𝑢𝑛𝑙𝑖𝑔h𝑡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E10 Petrol is widely used in the EU, the UK and lots of countries around the world 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A6B508-E88A-E290-E2E3-FCA3026DEB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653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FF8FC-A881-64A1-F1C4-AEF13BF5D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16D7D-FB5D-B41A-1665-930F12195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i="1" dirty="0"/>
              <a:t>Biodiesel is produced in the United States and used in conventional diesel engines, directly substituting for or extending supplies of traditional petroleum diesel. Soybean biodiesel has a positive energy balance, meaning that soybean biodiesel yields 4.56 units of energy for every unit of fossil energy consumed over its life cycle.’ (US EPA)</a:t>
            </a:r>
          </a:p>
        </p:txBody>
      </p:sp>
    </p:spTree>
    <p:extLst>
      <p:ext uri="{BB962C8B-B14F-4D97-AF65-F5344CB8AC3E}">
        <p14:creationId xmlns:p14="http://schemas.microsoft.com/office/powerpoint/2010/main" val="3130456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9E3D1-897F-72C0-3D06-CAA2509D5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i="1" dirty="0"/>
              <a:t>Disadvantages</a:t>
            </a:r>
            <a:r>
              <a:rPr lang="en-GB" dirty="0"/>
              <a:t> of biofuel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D7C2F-6287-B40B-1CC1-5829CA711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Lower energy </a:t>
            </a:r>
            <a:r>
              <a:rPr lang="en-US" altLang="zh-CN" dirty="0"/>
              <a:t>density</a:t>
            </a:r>
            <a:r>
              <a:rPr lang="en-GB" dirty="0"/>
              <a:t> than fossil fuels,</a:t>
            </a:r>
          </a:p>
          <a:p>
            <a:r>
              <a:rPr lang="en-GB" dirty="0"/>
              <a:t>Require more fuel to produce the same amount of energy. </a:t>
            </a:r>
          </a:p>
          <a:p>
            <a:r>
              <a:rPr lang="en-GB" dirty="0"/>
              <a:t>For example, ethanol has about two-thirds of the energy content of gasoline, and biodiesel has about 90% of the energy content of diesel.</a:t>
            </a:r>
          </a:p>
        </p:txBody>
      </p:sp>
    </p:spTree>
    <p:extLst>
      <p:ext uri="{BB962C8B-B14F-4D97-AF65-F5344CB8AC3E}">
        <p14:creationId xmlns:p14="http://schemas.microsoft.com/office/powerpoint/2010/main" val="2232696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FC7B8-C472-AB3A-BA1A-EA4E507D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Hypothesis &amp; </a:t>
            </a:r>
            <a:r>
              <a:rPr lang="en-GB" i="1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1173F-D252-CDF9-293D-7636332CD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Silver Nanoparticle (</a:t>
            </a:r>
            <a:r>
              <a:rPr lang="en-GB" dirty="0" err="1"/>
              <a:t>AgNPs</a:t>
            </a:r>
            <a:r>
              <a:rPr lang="en-GB" dirty="0"/>
              <a:t>) &amp; Carbon Nanotubes (CNTs) improve the combustion efficiency ( energy output / time )</a:t>
            </a:r>
          </a:p>
          <a:p>
            <a:endParaRPr lang="en-GB" dirty="0"/>
          </a:p>
          <a:p>
            <a:r>
              <a:rPr lang="en-GB" i="1" dirty="0"/>
              <a:t>Test for improvements on rate of combustion of biofuel (vegetable oil) using silver nanoparticles (</a:t>
            </a:r>
            <a:r>
              <a:rPr lang="en-GB" i="1" dirty="0" err="1"/>
              <a:t>AgNPs</a:t>
            </a:r>
            <a:r>
              <a:rPr lang="en-GB" i="1" dirty="0"/>
              <a:t>) and carbon nanotubes (CNTs)</a:t>
            </a:r>
          </a:p>
        </p:txBody>
      </p:sp>
    </p:spTree>
    <p:extLst>
      <p:ext uri="{BB962C8B-B14F-4D97-AF65-F5344CB8AC3E}">
        <p14:creationId xmlns:p14="http://schemas.microsoft.com/office/powerpoint/2010/main" val="3452679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453F8-6CC9-BF2C-40F3-0D7D8A650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i="1" dirty="0"/>
              <a:t>Experiment</a:t>
            </a:r>
            <a:r>
              <a:rPr lang="en-GB" dirty="0"/>
              <a:t> Procedures</a:t>
            </a:r>
            <a:br>
              <a:rPr lang="en-GB" dirty="0"/>
            </a:br>
            <a:r>
              <a:rPr lang="en-GB" sz="3200" i="1" dirty="0"/>
              <a:t>Extracting Silver Nanoparticles from CVS wound gel</a:t>
            </a:r>
            <a:endParaRPr lang="en-GB" i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228269-5826-B277-C947-C46730D269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651" y="1958462"/>
            <a:ext cx="2785518" cy="3714750"/>
          </a:xfrm>
          <a:prstGeom prst="rect">
            <a:avLst/>
          </a:prstGeom>
        </p:spPr>
      </p:pic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78BE548E-B45D-36B9-0E17-ED2F0437E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7479" y="1958462"/>
            <a:ext cx="2840078" cy="378751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32F4E6-BEF7-6F0B-F441-891637260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005" y="1958462"/>
            <a:ext cx="2701669" cy="360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41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9E40-347D-7A8D-E6E7-A9A47FBC4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40B892-B5CC-053A-6E45-183C66904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587" y="903840"/>
            <a:ext cx="5193209" cy="489789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BB3C35-CAC5-AFF1-2B46-FE01D740C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122" y="884778"/>
            <a:ext cx="5274294" cy="491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176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805DC-122E-2C4B-6EFE-838B9796D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i="1" dirty="0"/>
              <a:t>Experiment</a:t>
            </a:r>
            <a:r>
              <a:rPr lang="en-GB" dirty="0"/>
              <a:t> Procedures</a:t>
            </a:r>
            <a:br>
              <a:rPr lang="en-GB" dirty="0"/>
            </a:br>
            <a:r>
              <a:rPr lang="en-GB" sz="3200" i="1" dirty="0"/>
              <a:t>Precipitation between silver nitrate and sodium hydroxide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278C9C-BDDF-0A86-E21E-00706358C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4233863" y="2889052"/>
            <a:ext cx="3714750" cy="2089546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C7DDD9-D4A5-DAE7-AABB-742F5A4F9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241" y="2337129"/>
            <a:ext cx="2590553" cy="34540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6C6F6A-C0A9-2DEF-DB4B-C554DFB24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2423" y="2625213"/>
            <a:ext cx="3677264" cy="275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534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042F-F926-A05F-D4C2-E87B6D713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9148EE2-12B5-76DC-FF53-588D0C22F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6867" y="1341794"/>
            <a:ext cx="4438190" cy="4629337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9EF80D-7DEE-21FE-3E23-94C71A19D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486" y="1326651"/>
            <a:ext cx="4910259" cy="464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779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69927-636A-6D4D-3366-B8CA704D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DLS Result of CNTs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CBDE30-4FA0-773B-C0D0-18B68C9D3B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4504" y="1866900"/>
            <a:ext cx="4921648" cy="4507194"/>
          </a:xfrm>
        </p:spPr>
      </p:pic>
    </p:spTree>
    <p:extLst>
      <p:ext uri="{BB962C8B-B14F-4D97-AF65-F5344CB8AC3E}">
        <p14:creationId xmlns:p14="http://schemas.microsoft.com/office/powerpoint/2010/main" val="1024741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E0095-234F-3E0E-22BE-396D2534B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Combustion Experiment &amp; Results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35AE4F-32AF-6B08-FA93-F3C29C0915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234" y="1704914"/>
            <a:ext cx="3679251" cy="49082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064060-F1F9-8EF2-2ABA-82E6A97AA3BF}"/>
              </a:ext>
            </a:extLst>
          </p:cNvPr>
          <p:cNvSpPr txBox="1"/>
          <p:nvPr/>
        </p:nvSpPr>
        <p:spPr>
          <a:xfrm>
            <a:off x="5671156" y="2772032"/>
            <a:ext cx="589345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/>
              <a:t>Control – 3’ 17’’</a:t>
            </a:r>
          </a:p>
          <a:p>
            <a:endParaRPr lang="en-GB" sz="2000" i="1" dirty="0"/>
          </a:p>
          <a:p>
            <a:r>
              <a:rPr lang="en-GB" sz="2000" i="1" dirty="0" err="1"/>
              <a:t>AgNPs</a:t>
            </a:r>
            <a:r>
              <a:rPr lang="en-GB" sz="2000" i="1" dirty="0"/>
              <a:t> – 2’ 44’’</a:t>
            </a:r>
          </a:p>
          <a:p>
            <a:endParaRPr lang="en-GB" sz="2000" i="1" dirty="0"/>
          </a:p>
          <a:p>
            <a:r>
              <a:rPr lang="en-GB" sz="2000" i="1" dirty="0"/>
              <a:t>CNTs – 2’ 28’’</a:t>
            </a:r>
          </a:p>
          <a:p>
            <a:endParaRPr lang="en-GB" sz="2000" i="1" dirty="0"/>
          </a:p>
          <a:p>
            <a:r>
              <a:rPr lang="en-GB" sz="2000" i="1" dirty="0"/>
              <a:t>16.8 % and 24.9 % rise in combustion efficiency is recorded for </a:t>
            </a:r>
          </a:p>
          <a:p>
            <a:r>
              <a:rPr lang="en-GB" sz="2000" i="1" dirty="0" err="1"/>
              <a:t>AgNPs</a:t>
            </a:r>
            <a:r>
              <a:rPr lang="en-GB" sz="2000" i="1" dirty="0"/>
              <a:t> and CNTs,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1534947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456E1-44DA-55CC-DB6C-8F4B04F9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Any Questions?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C0C64-40EF-94F7-939B-F7E7EB973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89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274C5-796B-0EA9-1816-D5704410F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Acknowledgement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8FB68-02B9-69CF-A4AD-AD95E2EEA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600" i="1" dirty="0"/>
              <a:t>Sincere gratitude to:</a:t>
            </a:r>
          </a:p>
          <a:p>
            <a:r>
              <a:rPr lang="en-GB" i="1" dirty="0"/>
              <a:t>Guidance, Feedback &amp; Support</a:t>
            </a:r>
          </a:p>
          <a:p>
            <a:r>
              <a:rPr lang="en-GB" sz="2800" dirty="0"/>
              <a:t>From Prof. T. Webster</a:t>
            </a:r>
          </a:p>
          <a:p>
            <a:r>
              <a:rPr lang="en-GB" i="1" dirty="0"/>
              <a:t>Assistance &amp; Encouragement</a:t>
            </a:r>
          </a:p>
          <a:p>
            <a:r>
              <a:rPr lang="en-GB" sz="2800" dirty="0"/>
              <a:t>From Amanda Vera</a:t>
            </a:r>
          </a:p>
          <a:p>
            <a:r>
              <a:rPr lang="en-GB" sz="2400" i="1" dirty="0"/>
              <a:t>And all my lab colleagues!</a:t>
            </a:r>
          </a:p>
        </p:txBody>
      </p:sp>
    </p:spTree>
    <p:extLst>
      <p:ext uri="{BB962C8B-B14F-4D97-AF65-F5344CB8AC3E}">
        <p14:creationId xmlns:p14="http://schemas.microsoft.com/office/powerpoint/2010/main" val="1688619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BAB2A-E63F-7B12-FE90-9CC551749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 fontScale="90000"/>
          </a:bodyPr>
          <a:lstStyle/>
          <a:p>
            <a:r>
              <a:rPr lang="en-GB" i="1" dirty="0"/>
              <a:t>Thank you </a:t>
            </a:r>
            <a:br>
              <a:rPr lang="en-GB" i="1" dirty="0"/>
            </a:br>
            <a:r>
              <a:rPr lang="en-GB" i="1" dirty="0"/>
              <a:t>&amp;</a:t>
            </a:r>
            <a:br>
              <a:rPr lang="en-GB" i="1" dirty="0"/>
            </a:br>
            <a:r>
              <a:rPr lang="en-GB" i="1" dirty="0"/>
              <a:t>Have a wonderful summer!</a:t>
            </a:r>
          </a:p>
        </p:txBody>
      </p:sp>
    </p:spTree>
    <p:extLst>
      <p:ext uri="{BB962C8B-B14F-4D97-AF65-F5344CB8AC3E}">
        <p14:creationId xmlns:p14="http://schemas.microsoft.com/office/powerpoint/2010/main" val="18486649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073_TF55705232.potx" id="{B7A741E6-96B9-45BD-A1A1-505231A19B21}" vid="{F17FBA35-4AE0-45DF-B5E4-C900201365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{7AFC2089-27A6-4085-BBB5-08D0820F2EB0}tf55705232_win32</Template>
  <TotalTime>218</TotalTime>
  <Words>326</Words>
  <Application>Microsoft Office PowerPoint</Application>
  <PresentationFormat>Widescreen</PresentationFormat>
  <Paragraphs>40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</vt:lpstr>
      <vt:lpstr>Cambria Math</vt:lpstr>
      <vt:lpstr>Goudy Old Style</vt:lpstr>
      <vt:lpstr>Wingdings 2</vt:lpstr>
      <vt:lpstr>SlateVTI</vt:lpstr>
      <vt:lpstr>Energy Crisis Biofuel &amp; Nanotechnology</vt:lpstr>
      <vt:lpstr>PowerPoint Presentation</vt:lpstr>
      <vt:lpstr>PowerPoint Presentation</vt:lpstr>
      <vt:lpstr>PowerPoint Presentation</vt:lpstr>
      <vt:lpstr>PowerPoint Presentation</vt:lpstr>
      <vt:lpstr> Biofuel Example: Bioethanol</vt:lpstr>
      <vt:lpstr>PowerPoint Presentation</vt:lpstr>
      <vt:lpstr>Disadvantages of biofuel</vt:lpstr>
      <vt:lpstr>Hypothesis &amp; Title</vt:lpstr>
      <vt:lpstr>Experiment Procedures Extracting Silver Nanoparticles from CVS wound gel</vt:lpstr>
      <vt:lpstr>PowerPoint Presentation</vt:lpstr>
      <vt:lpstr>Experiment Procedures Precipitation between silver nitrate and sodium hydroxide</vt:lpstr>
      <vt:lpstr>PowerPoint Presentation</vt:lpstr>
      <vt:lpstr>DLS Result of CNTs</vt:lpstr>
      <vt:lpstr>Combustion Experiment &amp; Results</vt:lpstr>
      <vt:lpstr>Any Questions?</vt:lpstr>
      <vt:lpstr>Acknowledgement</vt:lpstr>
      <vt:lpstr>Thank you  &amp; Have a wonderful summer!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Crisis Biofuel &amp; Nanotechnology</dc:title>
  <dc:creator>Webb Wu</dc:creator>
  <cp:lastModifiedBy>Webb Wu</cp:lastModifiedBy>
  <cp:revision>4</cp:revision>
  <dcterms:created xsi:type="dcterms:W3CDTF">2023-07-28T03:03:44Z</dcterms:created>
  <dcterms:modified xsi:type="dcterms:W3CDTF">2023-07-28T13:19:47Z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